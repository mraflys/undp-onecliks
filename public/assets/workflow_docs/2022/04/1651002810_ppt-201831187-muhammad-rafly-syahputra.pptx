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4" r:id="rId9"/>
    <p:sldId id="263" r:id="rId10"/>
    <p:sldId id="266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A0D6"/>
    <a:srgbClr val="0C4F6A"/>
    <a:srgbClr val="1C3A6C"/>
    <a:srgbClr val="0C3076"/>
    <a:srgbClr val="0B347C"/>
    <a:srgbClr val="0C1C52"/>
    <a:srgbClr val="0D31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100" d="100"/>
          <a:sy n="100" d="100"/>
        </p:scale>
        <p:origin x="708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1F3B-25AE-4C32-A597-2C6216DD5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306D3-A3B4-4A05-9391-DF52AC2A7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9607C-35A4-41AA-8DF5-0D0D5C28D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5254-89A3-42FF-9096-A40F26796A4D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EACD1-05CD-4F20-8AE3-03979527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ECE55-665C-426F-82FA-3FADCF4C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8ED6-DEB0-4B6C-BC82-29E1B512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82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E47D1-6D1E-49BB-972C-5913E7B3D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3D7F8-472F-4C7B-885B-CBDEBD4D4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81DED-0614-4F76-99EE-0E66E4AD0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5254-89A3-42FF-9096-A40F26796A4D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9BABB-01C7-4964-8A8A-E10588405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5A5F7-437F-4EDA-BE45-B40FD703C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8ED6-DEB0-4B6C-BC82-29E1B512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26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F84D-5BC0-4E5D-A157-AD09EBBA5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F001A-6CA7-434F-871D-258DDB849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D9224-AC74-4AEB-BFB1-99CD2B412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5254-89A3-42FF-9096-A40F26796A4D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05E9F-5B68-4B1C-9A27-7B64345BF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1E722-7D37-423A-9671-406192577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8ED6-DEB0-4B6C-BC82-29E1B512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20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112A-2649-464E-9E0B-42C85E67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F5F06-A787-40F7-B910-9FE0458BF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7E7B8-C267-498D-85FF-75F1A5EDF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BB2D1-470E-4334-B5C2-8C19F883A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5254-89A3-42FF-9096-A40F26796A4D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D0BB8-786C-4322-8147-4894D0413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FBAB3-2BA5-4363-81BD-966E897C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8ED6-DEB0-4B6C-BC82-29E1B512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3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BF67D-7F47-4FAF-A038-F06CC8CEE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68E2D-0CD3-4095-943F-1BC23F229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11ED3-9C5E-4F32-AF69-66BE02CF8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CA9C80-07EF-4285-9325-CFE91AA51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643DE6-4211-44A7-8B87-5017F53EC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EE3254-2DA0-424B-8E40-BC9588CFF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5254-89A3-42FF-9096-A40F26796A4D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0A3E55-7B35-449A-B41E-B2A8FF093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A6A2E-7303-49C4-A08F-0CB98D2E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8ED6-DEB0-4B6C-BC82-29E1B512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3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2760-6081-4596-A148-BCE6D0660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E3C74-A99D-4BFF-B1B4-F9F3AA702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5254-89A3-42FF-9096-A40F26796A4D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79AF54-FFD0-452F-946F-A14299889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B29FA-3374-4ADB-814E-F22E842F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8ED6-DEB0-4B6C-BC82-29E1B512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27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4DAE46-407C-4313-863E-2C39F06D5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5254-89A3-42FF-9096-A40F26796A4D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1B6F-EC70-42D7-A017-67D051D6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AA224-ACBB-4654-9C97-5B89D706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8ED6-DEB0-4B6C-BC82-29E1B512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12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C9A1-BC24-4F34-B02B-B8B5D0D1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B969C-0A2C-4DBA-A698-303F3817C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1F079-44BE-443C-BDB6-1B3961C50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A4CDC-647B-4E69-937E-42D45F01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5254-89A3-42FF-9096-A40F26796A4D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DEF77-3E75-4C74-829F-848A3E794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6E13F-C3F4-4B8C-9772-95B3AEC10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8ED6-DEB0-4B6C-BC82-29E1B512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66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D48B6-373B-405D-95AF-6E7D739C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4B62EA-9918-40E3-B4F0-DC93672449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A755F-89F5-4F42-883E-8A39C0D1E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00675-4C67-49AF-8AC0-85E934FA7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5254-89A3-42FF-9096-A40F26796A4D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27ED4-1996-4094-9A70-E727808CE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4E75A-757B-4FB8-B079-56E1BD01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8ED6-DEB0-4B6C-BC82-29E1B512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0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6491-45FB-4D4B-A9BE-A18309AA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656F0-6F77-4732-BE9E-B753DDAD5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42D2C-F1D8-4C73-8B3F-32EE9F595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5254-89A3-42FF-9096-A40F26796A4D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F9877-6ACA-428E-888B-D9323123F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EB986-F81F-4147-9E6C-8A293B0D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8ED6-DEB0-4B6C-BC82-29E1B512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9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8AD996-9A2D-4BFD-A629-99D88ABA88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056BC-99F0-4775-8B8D-9BF7A9E80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D6694-A4D8-482B-AAA2-FE2069E2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5254-89A3-42FF-9096-A40F26796A4D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06D69-16CC-4FE7-9837-69214D6CE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8917D-DC20-4419-81D6-7708ECAA9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68ED6-DEB0-4B6C-BC82-29E1B512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7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CBFB5F-73A0-431E-B063-99D20BDB1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509A2-DF3B-4351-80E5-39B54AD4A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367F0-3A12-4B93-8582-B5AF436E9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A5254-89A3-42FF-9096-A40F26796A4D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2DDF8-ED15-4DFC-ACDF-1FA4E42DB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C9437-3C31-4D9A-9142-5E35B8673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68ED6-DEB0-4B6C-BC82-29E1B512B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1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A29398BB-6F62-472B-88B2-8D942FEBF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oogle Shape;63;p13">
            <a:extLst>
              <a:ext uri="{FF2B5EF4-FFF2-40B4-BE49-F238E27FC236}">
                <a16:creationId xmlns:a16="http://schemas.microsoft.com/office/drawing/2014/main" id="{956C9BAA-5A23-4F0F-B452-500E1020F0AA}"/>
              </a:ext>
            </a:extLst>
          </p:cNvPr>
          <p:cNvPicPr preferRelativeResize="0"/>
          <p:nvPr/>
        </p:nvPicPr>
        <p:blipFill rotWithShape="1">
          <a:blip r:embed="rId2"/>
          <a:srcRect t="23669" b="1331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FD367FDA-2141-45CD-BBF9-48670C11D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314" y="1073777"/>
            <a:ext cx="5952405" cy="4412648"/>
          </a:xfrm>
          <a:custGeom>
            <a:avLst/>
            <a:gdLst>
              <a:gd name="connsiteX0" fmla="*/ 5087889 w 5952405"/>
              <a:gd name="connsiteY0" fmla="*/ 880798 h 4412648"/>
              <a:gd name="connsiteX1" fmla="*/ 5602872 w 5952405"/>
              <a:gd name="connsiteY1" fmla="*/ 880798 h 4412648"/>
              <a:gd name="connsiteX2" fmla="*/ 5682956 w 5952405"/>
              <a:gd name="connsiteY2" fmla="*/ 927340 h 4412648"/>
              <a:gd name="connsiteX3" fmla="*/ 5939892 w 5952405"/>
              <a:gd name="connsiteY3" fmla="*/ 1371716 h 4412648"/>
              <a:gd name="connsiteX4" fmla="*/ 5939892 w 5952405"/>
              <a:gd name="connsiteY4" fmla="*/ 1462586 h 4412648"/>
              <a:gd name="connsiteX5" fmla="*/ 5682956 w 5952405"/>
              <a:gd name="connsiteY5" fmla="*/ 1906962 h 4412648"/>
              <a:gd name="connsiteX6" fmla="*/ 5602872 w 5952405"/>
              <a:gd name="connsiteY6" fmla="*/ 1953505 h 4412648"/>
              <a:gd name="connsiteX7" fmla="*/ 5087889 w 5952405"/>
              <a:gd name="connsiteY7" fmla="*/ 1953505 h 4412648"/>
              <a:gd name="connsiteX8" fmla="*/ 5008916 w 5952405"/>
              <a:gd name="connsiteY8" fmla="*/ 1906962 h 4412648"/>
              <a:gd name="connsiteX9" fmla="*/ 4750868 w 5952405"/>
              <a:gd name="connsiteY9" fmla="*/ 1462586 h 4412648"/>
              <a:gd name="connsiteX10" fmla="*/ 4750868 w 5952405"/>
              <a:gd name="connsiteY10" fmla="*/ 1371716 h 4412648"/>
              <a:gd name="connsiteX11" fmla="*/ 5008916 w 5952405"/>
              <a:gd name="connsiteY11" fmla="*/ 927340 h 4412648"/>
              <a:gd name="connsiteX12" fmla="*/ 5087889 w 5952405"/>
              <a:gd name="connsiteY12" fmla="*/ 880798 h 4412648"/>
              <a:gd name="connsiteX13" fmla="*/ 1437823 w 5952405"/>
              <a:gd name="connsiteY13" fmla="*/ 0 h 4412648"/>
              <a:gd name="connsiteX14" fmla="*/ 3556238 w 5952405"/>
              <a:gd name="connsiteY14" fmla="*/ 0 h 4412648"/>
              <a:gd name="connsiteX15" fmla="*/ 3885668 w 5952405"/>
              <a:gd name="connsiteY15" fmla="*/ 191458 h 4412648"/>
              <a:gd name="connsiteX16" fmla="*/ 4942588 w 5952405"/>
              <a:gd name="connsiteY16" fmla="*/ 2019425 h 4412648"/>
              <a:gd name="connsiteX17" fmla="*/ 4942588 w 5952405"/>
              <a:gd name="connsiteY17" fmla="*/ 2393224 h 4412648"/>
              <a:gd name="connsiteX18" fmla="*/ 4550147 w 5952405"/>
              <a:gd name="connsiteY18" fmla="*/ 3071961 h 4412648"/>
              <a:gd name="connsiteX19" fmla="*/ 4549818 w 5952405"/>
              <a:gd name="connsiteY19" fmla="*/ 3072530 h 4412648"/>
              <a:gd name="connsiteX20" fmla="*/ 4539741 w 5952405"/>
              <a:gd name="connsiteY20" fmla="*/ 3072530 h 4412648"/>
              <a:gd name="connsiteX21" fmla="*/ 3588169 w 5952405"/>
              <a:gd name="connsiteY21" fmla="*/ 3072530 h 4412648"/>
              <a:gd name="connsiteX22" fmla="*/ 3432811 w 5952405"/>
              <a:gd name="connsiteY22" fmla="*/ 3158889 h 4412648"/>
              <a:gd name="connsiteX23" fmla="*/ 2889055 w 5952405"/>
              <a:gd name="connsiteY23" fmla="*/ 4089642 h 4412648"/>
              <a:gd name="connsiteX24" fmla="*/ 2889055 w 5952405"/>
              <a:gd name="connsiteY24" fmla="*/ 4268756 h 4412648"/>
              <a:gd name="connsiteX25" fmla="*/ 2957025 w 5952405"/>
              <a:gd name="connsiteY25" fmla="*/ 4385100 h 4412648"/>
              <a:gd name="connsiteX26" fmla="*/ 2973119 w 5952405"/>
              <a:gd name="connsiteY26" fmla="*/ 4412648 h 4412648"/>
              <a:gd name="connsiteX27" fmla="*/ 2913734 w 5952405"/>
              <a:gd name="connsiteY27" fmla="*/ 4412648 h 4412648"/>
              <a:gd name="connsiteX28" fmla="*/ 1437823 w 5952405"/>
              <a:gd name="connsiteY28" fmla="*/ 4412648 h 4412648"/>
              <a:gd name="connsiteX29" fmla="*/ 1112968 w 5952405"/>
              <a:gd name="connsiteY29" fmla="*/ 4221190 h 4412648"/>
              <a:gd name="connsiteX30" fmla="*/ 51474 w 5952405"/>
              <a:gd name="connsiteY30" fmla="*/ 2393224 h 4412648"/>
              <a:gd name="connsiteX31" fmla="*/ 51474 w 5952405"/>
              <a:gd name="connsiteY31" fmla="*/ 2019425 h 4412648"/>
              <a:gd name="connsiteX32" fmla="*/ 1112968 w 5952405"/>
              <a:gd name="connsiteY32" fmla="*/ 191458 h 4412648"/>
              <a:gd name="connsiteX33" fmla="*/ 1437823 w 5952405"/>
              <a:gd name="connsiteY33" fmla="*/ 0 h 441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5952405" h="4412648">
                <a:moveTo>
                  <a:pt x="5087889" y="880798"/>
                </a:moveTo>
                <a:cubicBezTo>
                  <a:pt x="5087889" y="880798"/>
                  <a:pt x="5087889" y="880798"/>
                  <a:pt x="5602872" y="880798"/>
                </a:cubicBezTo>
                <a:cubicBezTo>
                  <a:pt x="5636241" y="880798"/>
                  <a:pt x="5666272" y="898528"/>
                  <a:pt x="5682956" y="927340"/>
                </a:cubicBezTo>
                <a:cubicBezTo>
                  <a:pt x="5682956" y="927340"/>
                  <a:pt x="5682956" y="927340"/>
                  <a:pt x="5939892" y="1371716"/>
                </a:cubicBezTo>
                <a:cubicBezTo>
                  <a:pt x="5956576" y="1399421"/>
                  <a:pt x="5956576" y="1434882"/>
                  <a:pt x="5939892" y="1462586"/>
                </a:cubicBezTo>
                <a:cubicBezTo>
                  <a:pt x="5939892" y="1462586"/>
                  <a:pt x="5939892" y="1462586"/>
                  <a:pt x="5682956" y="1906962"/>
                </a:cubicBezTo>
                <a:cubicBezTo>
                  <a:pt x="5666272" y="1935775"/>
                  <a:pt x="5636241" y="1953505"/>
                  <a:pt x="5602872" y="1953505"/>
                </a:cubicBezTo>
                <a:cubicBezTo>
                  <a:pt x="5602872" y="1953505"/>
                  <a:pt x="5602872" y="1953505"/>
                  <a:pt x="5087889" y="1953505"/>
                </a:cubicBezTo>
                <a:cubicBezTo>
                  <a:pt x="5055632" y="1953505"/>
                  <a:pt x="5024489" y="1935775"/>
                  <a:pt x="5008916" y="1906962"/>
                </a:cubicBezTo>
                <a:cubicBezTo>
                  <a:pt x="5008916" y="1906962"/>
                  <a:pt x="5008916" y="1906962"/>
                  <a:pt x="4750868" y="1462586"/>
                </a:cubicBezTo>
                <a:cubicBezTo>
                  <a:pt x="4734184" y="1434882"/>
                  <a:pt x="4734184" y="1399421"/>
                  <a:pt x="4750868" y="1371716"/>
                </a:cubicBezTo>
                <a:cubicBezTo>
                  <a:pt x="4750868" y="1371716"/>
                  <a:pt x="4750868" y="1371716"/>
                  <a:pt x="5008916" y="927340"/>
                </a:cubicBezTo>
                <a:cubicBezTo>
                  <a:pt x="5024489" y="898528"/>
                  <a:pt x="5055632" y="880798"/>
                  <a:pt x="5087889" y="880798"/>
                </a:cubicBezTo>
                <a:close/>
                <a:moveTo>
                  <a:pt x="1437823" y="0"/>
                </a:moveTo>
                <a:cubicBezTo>
                  <a:pt x="1437823" y="0"/>
                  <a:pt x="1437823" y="0"/>
                  <a:pt x="3556238" y="0"/>
                </a:cubicBezTo>
                <a:cubicBezTo>
                  <a:pt x="3693500" y="0"/>
                  <a:pt x="3817038" y="72936"/>
                  <a:pt x="3885668" y="191458"/>
                </a:cubicBezTo>
                <a:cubicBezTo>
                  <a:pt x="3885668" y="191458"/>
                  <a:pt x="3885668" y="191458"/>
                  <a:pt x="4942588" y="2019425"/>
                </a:cubicBezTo>
                <a:cubicBezTo>
                  <a:pt x="5011220" y="2133388"/>
                  <a:pt x="5011220" y="2279261"/>
                  <a:pt x="4942588" y="2393224"/>
                </a:cubicBezTo>
                <a:cubicBezTo>
                  <a:pt x="4942588" y="2393224"/>
                  <a:pt x="4942588" y="2393224"/>
                  <a:pt x="4550147" y="3071961"/>
                </a:cubicBezTo>
                <a:lnTo>
                  <a:pt x="4549818" y="3072530"/>
                </a:lnTo>
                <a:lnTo>
                  <a:pt x="4539741" y="3072530"/>
                </a:lnTo>
                <a:cubicBezTo>
                  <a:pt x="4403802" y="3072530"/>
                  <a:pt x="4131924" y="3072530"/>
                  <a:pt x="3588169" y="3072530"/>
                </a:cubicBezTo>
                <a:cubicBezTo>
                  <a:pt x="3529910" y="3072530"/>
                  <a:pt x="3458704" y="3110912"/>
                  <a:pt x="3432811" y="3158889"/>
                </a:cubicBezTo>
                <a:cubicBezTo>
                  <a:pt x="3432811" y="3158889"/>
                  <a:pt x="3432811" y="3158889"/>
                  <a:pt x="2889055" y="4089642"/>
                </a:cubicBezTo>
                <a:cubicBezTo>
                  <a:pt x="2859925" y="4140817"/>
                  <a:pt x="2859925" y="4217580"/>
                  <a:pt x="2889055" y="4268756"/>
                </a:cubicBezTo>
                <a:cubicBezTo>
                  <a:pt x="2889055" y="4268756"/>
                  <a:pt x="2889055" y="4268756"/>
                  <a:pt x="2957025" y="4385100"/>
                </a:cubicBezTo>
                <a:lnTo>
                  <a:pt x="2973119" y="4412648"/>
                </a:lnTo>
                <a:lnTo>
                  <a:pt x="2913734" y="4412648"/>
                </a:lnTo>
                <a:cubicBezTo>
                  <a:pt x="2599952" y="4412648"/>
                  <a:pt x="2132928" y="4412648"/>
                  <a:pt x="1437823" y="4412648"/>
                </a:cubicBezTo>
                <a:cubicBezTo>
                  <a:pt x="1305136" y="4412648"/>
                  <a:pt x="1177025" y="4339712"/>
                  <a:pt x="1112968" y="4221190"/>
                </a:cubicBezTo>
                <a:cubicBezTo>
                  <a:pt x="1112968" y="4221190"/>
                  <a:pt x="1112968" y="4221190"/>
                  <a:pt x="51474" y="2393224"/>
                </a:cubicBezTo>
                <a:cubicBezTo>
                  <a:pt x="-17158" y="2279261"/>
                  <a:pt x="-17158" y="2133388"/>
                  <a:pt x="51474" y="2019425"/>
                </a:cubicBezTo>
                <a:cubicBezTo>
                  <a:pt x="51474" y="2019425"/>
                  <a:pt x="51474" y="2019425"/>
                  <a:pt x="1112968" y="191458"/>
                </a:cubicBezTo>
                <a:cubicBezTo>
                  <a:pt x="1177025" y="72936"/>
                  <a:pt x="1305136" y="0"/>
                  <a:pt x="14378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43FD6-D2D2-4B74-A5E2-D0209726B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920" y="2306853"/>
            <a:ext cx="4282069" cy="1817649"/>
          </a:xfrm>
        </p:spPr>
        <p:txBody>
          <a:bodyPr anchor="b">
            <a:normAutofit/>
          </a:bodyPr>
          <a:lstStyle/>
          <a:p>
            <a:pPr algn="l"/>
            <a:r>
              <a:rPr lang="id-ID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IMPLEMENTASI VALIDASI ABSENSI DENGAN PENGENALAN WAJAH DAN DETEKSI LOKASI DI PT KOMITRAS DENGAN METODE EIGENFACE DAN GPS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9E7A3B0-8177-473E-B1D0-59D0661DC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00521" y="4146804"/>
            <a:ext cx="2527006" cy="2213337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solidFill>
            <a:srgbClr val="FFFFFF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69BC5-93A6-49AD-8332-CB9BCEBD3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8361" y="3807154"/>
            <a:ext cx="5050059" cy="1596347"/>
          </a:xfrm>
        </p:spPr>
        <p:txBody>
          <a:bodyPr anchor="t">
            <a:norm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Muhammad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Rafly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Syahputra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201831187</a:t>
            </a:r>
          </a:p>
          <a:p>
            <a:pPr algn="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S1 TEKNIK INFORMATIKA</a:t>
            </a:r>
          </a:p>
          <a:p>
            <a:pPr algn="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FAKULTAS TELEMATIKA ENERGI</a:t>
            </a:r>
          </a:p>
        </p:txBody>
      </p:sp>
      <p:pic>
        <p:nvPicPr>
          <p:cNvPr id="7" name="Google Shape;68;p13">
            <a:extLst>
              <a:ext uri="{FF2B5EF4-FFF2-40B4-BE49-F238E27FC236}">
                <a16:creationId xmlns:a16="http://schemas.microsoft.com/office/drawing/2014/main" id="{42243229-F9CD-421F-BB96-A5E40EFA2807}"/>
              </a:ext>
            </a:extLst>
          </p:cNvPr>
          <p:cNvPicPr preferRelativeResize="0"/>
          <p:nvPr/>
        </p:nvPicPr>
        <p:blipFill rotWithShape="1">
          <a:blip r:embed="rId3"/>
          <a:srcRect l="11807" r="2288" b="-1"/>
          <a:stretch/>
        </p:blipFill>
        <p:spPr>
          <a:xfrm>
            <a:off x="3731204" y="4302188"/>
            <a:ext cx="2298408" cy="2013116"/>
          </a:xfrm>
          <a:custGeom>
            <a:avLst/>
            <a:gdLst/>
            <a:ahLst/>
            <a:cxnLst/>
            <a:rect l="l" t="t" r="r" b="b"/>
            <a:pathLst>
              <a:path w="2298408" h="2013116">
                <a:moveTo>
                  <a:pt x="655742" y="0"/>
                </a:moveTo>
                <a:cubicBezTo>
                  <a:pt x="1644875" y="0"/>
                  <a:pt x="1644875" y="0"/>
                  <a:pt x="1644875" y="0"/>
                </a:cubicBezTo>
                <a:cubicBezTo>
                  <a:pt x="1694920" y="0"/>
                  <a:pt x="1759685" y="34910"/>
                  <a:pt x="1786179" y="78547"/>
                </a:cubicBezTo>
                <a:cubicBezTo>
                  <a:pt x="2280745" y="925103"/>
                  <a:pt x="2280745" y="925103"/>
                  <a:pt x="2280745" y="925103"/>
                </a:cubicBezTo>
                <a:cubicBezTo>
                  <a:pt x="2304296" y="971649"/>
                  <a:pt x="2304296" y="1041468"/>
                  <a:pt x="2280745" y="1088014"/>
                </a:cubicBezTo>
                <a:cubicBezTo>
                  <a:pt x="1786179" y="1934570"/>
                  <a:pt x="1786179" y="1934570"/>
                  <a:pt x="1786179" y="1934570"/>
                </a:cubicBezTo>
                <a:cubicBezTo>
                  <a:pt x="1759685" y="1978207"/>
                  <a:pt x="1694920" y="2013116"/>
                  <a:pt x="1644875" y="2013116"/>
                </a:cubicBezTo>
                <a:lnTo>
                  <a:pt x="655742" y="2013116"/>
                </a:lnTo>
                <a:cubicBezTo>
                  <a:pt x="602753" y="2013116"/>
                  <a:pt x="537989" y="1978207"/>
                  <a:pt x="514438" y="1934570"/>
                </a:cubicBezTo>
                <a:cubicBezTo>
                  <a:pt x="19872" y="1088014"/>
                  <a:pt x="19872" y="1088014"/>
                  <a:pt x="19872" y="1088014"/>
                </a:cubicBezTo>
                <a:cubicBezTo>
                  <a:pt x="-6623" y="1041468"/>
                  <a:pt x="-6623" y="971649"/>
                  <a:pt x="19872" y="925103"/>
                </a:cubicBezTo>
                <a:cubicBezTo>
                  <a:pt x="514438" y="78547"/>
                  <a:pt x="514438" y="78547"/>
                  <a:pt x="514438" y="78547"/>
                </a:cubicBezTo>
                <a:cubicBezTo>
                  <a:pt x="537989" y="34910"/>
                  <a:pt x="602753" y="0"/>
                  <a:pt x="655742" y="0"/>
                </a:cubicBezTo>
                <a:close/>
              </a:path>
            </a:pathLst>
          </a:custGeom>
          <a:noFill/>
        </p:spPr>
      </p:pic>
      <p:sp>
        <p:nvSpPr>
          <p:cNvPr id="13" name="Google Shape;66;p13">
            <a:extLst>
              <a:ext uri="{FF2B5EF4-FFF2-40B4-BE49-F238E27FC236}">
                <a16:creationId xmlns:a16="http://schemas.microsoft.com/office/drawing/2014/main" id="{BC8BBEF3-8F3B-48FB-A77E-BD64670CD9F3}"/>
              </a:ext>
            </a:extLst>
          </p:cNvPr>
          <p:cNvSpPr txBox="1"/>
          <p:nvPr/>
        </p:nvSpPr>
        <p:spPr>
          <a:xfrm>
            <a:off x="7144875" y="5345936"/>
            <a:ext cx="4863545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Dosen Pembimbing 1:</a:t>
            </a:r>
            <a:endParaRPr b="1" dirty="0">
              <a:solidFill>
                <a:schemeClr val="bg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Abdurrasyid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, S.Kom., MMSI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Dosen</a:t>
            </a:r>
            <a:r>
              <a:rPr lang="en-US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Pembimbing</a:t>
            </a:r>
            <a:r>
              <a:rPr lang="en-US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2: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Firmansyah</a:t>
            </a:r>
            <a:r>
              <a:rPr lang="en-US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Apriyadhi</a:t>
            </a:r>
            <a:r>
              <a:rPr lang="en-US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, S.Kom, MTI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bg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34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45D23-3F54-4E7A-8979-C455A34B2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A04BF2-64C9-409F-BB91-C6DFDA8A019E}"/>
              </a:ext>
            </a:extLst>
          </p:cNvPr>
          <p:cNvGrpSpPr/>
          <p:nvPr/>
        </p:nvGrpSpPr>
        <p:grpSpPr>
          <a:xfrm>
            <a:off x="839416" y="1855357"/>
            <a:ext cx="5256584" cy="720000"/>
            <a:chOff x="3131840" y="1491630"/>
            <a:chExt cx="5256584" cy="5760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B338D4-C0EF-4EA8-A1BE-12AB515E5054}"/>
                </a:ext>
              </a:extLst>
            </p:cNvPr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28603A85-94C7-4232-9CC3-AF3DDBA1E791}"/>
                </a:ext>
              </a:extLst>
            </p:cNvPr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sp>
        <p:nvSpPr>
          <p:cNvPr id="7" name="TextBox 25">
            <a:extLst>
              <a:ext uri="{FF2B5EF4-FFF2-40B4-BE49-F238E27FC236}">
                <a16:creationId xmlns:a16="http://schemas.microsoft.com/office/drawing/2014/main" id="{F136DB09-CF24-4AE2-BC62-0C050E8B06D1}"/>
              </a:ext>
            </a:extLst>
          </p:cNvPr>
          <p:cNvSpPr txBox="1"/>
          <p:nvPr/>
        </p:nvSpPr>
        <p:spPr>
          <a:xfrm>
            <a:off x="838200" y="1855277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251F67-1BCE-4148-92E4-75D067967B84}"/>
              </a:ext>
            </a:extLst>
          </p:cNvPr>
          <p:cNvSpPr txBox="1"/>
          <p:nvPr/>
        </p:nvSpPr>
        <p:spPr>
          <a:xfrm>
            <a:off x="1371364" y="2015222"/>
            <a:ext cx="4549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LATAR BELAKANG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4CAFE2-9B86-4FD1-B19D-1D3929143F80}"/>
              </a:ext>
            </a:extLst>
          </p:cNvPr>
          <p:cNvGrpSpPr/>
          <p:nvPr/>
        </p:nvGrpSpPr>
        <p:grpSpPr>
          <a:xfrm>
            <a:off x="839416" y="2866401"/>
            <a:ext cx="5256584" cy="720000"/>
            <a:chOff x="3131840" y="1491630"/>
            <a:chExt cx="5256584" cy="5760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397656-6C49-4EA3-951B-806592D9EF6E}"/>
                </a:ext>
              </a:extLst>
            </p:cNvPr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AF14929C-DB04-447F-80C8-85E4528618DC}"/>
                </a:ext>
              </a:extLst>
            </p:cNvPr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sp>
        <p:nvSpPr>
          <p:cNvPr id="13" name="TextBox 25">
            <a:extLst>
              <a:ext uri="{FF2B5EF4-FFF2-40B4-BE49-F238E27FC236}">
                <a16:creationId xmlns:a16="http://schemas.microsoft.com/office/drawing/2014/main" id="{539A3907-676C-441C-B57E-7158C334B396}"/>
              </a:ext>
            </a:extLst>
          </p:cNvPr>
          <p:cNvSpPr txBox="1"/>
          <p:nvPr/>
        </p:nvSpPr>
        <p:spPr>
          <a:xfrm>
            <a:off x="838200" y="2866321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B04A54-FA37-467B-ACC5-60ADB1C5F5F4}"/>
              </a:ext>
            </a:extLst>
          </p:cNvPr>
          <p:cNvSpPr txBox="1"/>
          <p:nvPr/>
        </p:nvSpPr>
        <p:spPr>
          <a:xfrm>
            <a:off x="1364689" y="2903195"/>
            <a:ext cx="45499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Konsep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Teori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Penerapan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Landasan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Penelitian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97402B-511D-4159-BFC5-1E0B3AF5922F}"/>
              </a:ext>
            </a:extLst>
          </p:cNvPr>
          <p:cNvGrpSpPr/>
          <p:nvPr/>
        </p:nvGrpSpPr>
        <p:grpSpPr>
          <a:xfrm>
            <a:off x="838200" y="3882614"/>
            <a:ext cx="5256584" cy="720000"/>
            <a:chOff x="3131840" y="1491630"/>
            <a:chExt cx="5256584" cy="57606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6A38B37-33F3-4039-9D2A-C91003869FC3}"/>
                </a:ext>
              </a:extLst>
            </p:cNvPr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FDFA9AEE-135D-4663-A08B-678F6231642A}"/>
                </a:ext>
              </a:extLst>
            </p:cNvPr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sp>
        <p:nvSpPr>
          <p:cNvPr id="18" name="TextBox 25">
            <a:extLst>
              <a:ext uri="{FF2B5EF4-FFF2-40B4-BE49-F238E27FC236}">
                <a16:creationId xmlns:a16="http://schemas.microsoft.com/office/drawing/2014/main" id="{F88829D3-891A-4823-9FAA-C33EBDBEF759}"/>
              </a:ext>
            </a:extLst>
          </p:cNvPr>
          <p:cNvSpPr txBox="1"/>
          <p:nvPr/>
        </p:nvSpPr>
        <p:spPr>
          <a:xfrm>
            <a:off x="836984" y="3882534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A4170-8A40-47B8-B2DD-838585B94A5B}"/>
              </a:ext>
            </a:extLst>
          </p:cNvPr>
          <p:cNvSpPr txBox="1"/>
          <p:nvPr/>
        </p:nvSpPr>
        <p:spPr>
          <a:xfrm>
            <a:off x="1370148" y="4042479"/>
            <a:ext cx="4549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Metode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Pelaksanaan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Kegiatan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Penelitian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92B48A2-A40C-42B2-B332-7C25B1B38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480" y="365125"/>
            <a:ext cx="2652737" cy="99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Icon&#10;&#10;Description automatically generated">
            <a:extLst>
              <a:ext uri="{FF2B5EF4-FFF2-40B4-BE49-F238E27FC236}">
                <a16:creationId xmlns:a16="http://schemas.microsoft.com/office/drawing/2014/main" id="{93A364FC-2CBB-4515-B435-BC48D3E37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10" b="99199" l="10000" r="90000">
                        <a14:foregroundMark x1="31167" y1="91391" x2="31167" y2="91391"/>
                        <a14:foregroundMark x1="32250" y1="95596" x2="32250" y2="95596"/>
                        <a14:foregroundMark x1="33417" y1="99199" x2="33417" y2="991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587" y="2575277"/>
            <a:ext cx="5144413" cy="428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27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9BE6F6B-19BD-443C-8FB0-FA45F13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9505" cy="6857542"/>
          </a:xfrm>
          <a:custGeom>
            <a:avLst/>
            <a:gdLst>
              <a:gd name="connsiteX0" fmla="*/ 0 w 7539505"/>
              <a:gd name="connsiteY0" fmla="*/ 0 h 6857542"/>
              <a:gd name="connsiteX1" fmla="*/ 6392832 w 7539505"/>
              <a:gd name="connsiteY1" fmla="*/ 0 h 6857542"/>
              <a:gd name="connsiteX2" fmla="*/ 6405479 w 7539505"/>
              <a:gd name="connsiteY2" fmla="*/ 31774 h 6857542"/>
              <a:gd name="connsiteX3" fmla="*/ 7460487 w 7539505"/>
              <a:gd name="connsiteY3" fmla="*/ 2682457 h 6857542"/>
              <a:gd name="connsiteX4" fmla="*/ 7460487 w 7539505"/>
              <a:gd name="connsiteY4" fmla="*/ 3752208 h 6857542"/>
              <a:gd name="connsiteX5" fmla="*/ 6302983 w 7539505"/>
              <a:gd name="connsiteY5" fmla="*/ 6660411 h 6857542"/>
              <a:gd name="connsiteX6" fmla="*/ 6224521 w 7539505"/>
              <a:gd name="connsiteY6" fmla="*/ 6857542 h 6857542"/>
              <a:gd name="connsiteX7" fmla="*/ 0 w 7539505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39505" h="6857542">
                <a:moveTo>
                  <a:pt x="0" y="0"/>
                </a:moveTo>
                <a:lnTo>
                  <a:pt x="6392832" y="0"/>
                </a:lnTo>
                <a:lnTo>
                  <a:pt x="6405479" y="31774"/>
                </a:lnTo>
                <a:cubicBezTo>
                  <a:pt x="7460487" y="2682457"/>
                  <a:pt x="7460487" y="2682457"/>
                  <a:pt x="7460487" y="2682457"/>
                </a:cubicBezTo>
                <a:cubicBezTo>
                  <a:pt x="7565845" y="2988100"/>
                  <a:pt x="7565845" y="3446565"/>
                  <a:pt x="7460487" y="3752208"/>
                </a:cubicBezTo>
                <a:cubicBezTo>
                  <a:pt x="6976500" y="4968215"/>
                  <a:pt x="6598385" y="5918220"/>
                  <a:pt x="6302983" y="6660411"/>
                </a:cubicBezTo>
                <a:lnTo>
                  <a:pt x="6224521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354C4A-A2F3-4A57-86B3-CF4ADF59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033" y="681629"/>
            <a:ext cx="5573478" cy="36836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altLang="ko-KR" sz="7200" b="1">
                <a:solidFill>
                  <a:schemeClr val="bg1"/>
                </a:solidFill>
              </a:rPr>
              <a:t>LATAR BELAKANG</a:t>
            </a:r>
            <a:endParaRPr lang="en-US" sz="720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B5F537-3960-4E10-AE03-D496B4CD5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0080" y="640080"/>
            <a:ext cx="1128382" cy="847206"/>
            <a:chOff x="5307830" y="325570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4F9A94D1-9FCD-4778-A663-68663B4D3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BB080F40-90BD-4CAA-9447-8DC3FCD0F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A474164-156C-4B83-B498-6ACDF73D3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8282" y="1551192"/>
            <a:ext cx="3449589" cy="12935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B0961806-1E29-4CFE-8C8F-8FEE6718F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10" b="99199" l="10000" r="90000">
                        <a14:foregroundMark x1="31167" y1="91391" x2="31167" y2="91391"/>
                        <a14:foregroundMark x1="32250" y1="95596" x2="32250" y2="95596"/>
                        <a14:foregroundMark x1="33417" y1="99199" x2="33417" y2="991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587" y="2575277"/>
            <a:ext cx="5144413" cy="428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32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1F5DC-2BF2-4D03-B2B7-1DE3FB313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Sistem</a:t>
            </a:r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Kehadiran</a:t>
            </a:r>
            <a:endParaRPr lang="en-US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5374E-D9F0-4D7D-A85F-AE479A1B2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79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Banyak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Pegawai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menggunakan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kecurangan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dalam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menggunakan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Sistem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Kehadiran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terlebih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pada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absensi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maka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dari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itu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banyak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perusahaan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menerapkan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sistem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kehadiran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yang salah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satunya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pengenalan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wajah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deteksi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lokasi</a:t>
            </a:r>
            <a:r>
              <a:rPr lang="en-ID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020A7A-4900-484F-84FB-BAFB26A71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480" y="365125"/>
            <a:ext cx="2652737" cy="99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85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BC03-141E-4C15-93A3-E64DD9AD3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Rumusan</a:t>
            </a:r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Masalah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DD909-55FF-498F-8445-E9B3198B2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sz="2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en-ID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agaimana</a:t>
            </a:r>
            <a:r>
              <a:rPr lang="en-ID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mengimplementasikan</a:t>
            </a:r>
            <a:r>
              <a:rPr lang="en-ID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pemvalidasian</a:t>
            </a:r>
            <a:r>
              <a:rPr lang="en-ID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absensi</a:t>
            </a:r>
            <a:r>
              <a:rPr lang="en-ID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menggunakan</a:t>
            </a:r>
            <a:r>
              <a:rPr lang="en-ID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pengenalan</a:t>
            </a:r>
            <a:r>
              <a:rPr lang="en-ID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wajah</a:t>
            </a:r>
            <a:r>
              <a:rPr lang="en-ID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 </a:t>
            </a:r>
            <a:r>
              <a:rPr lang="en-ID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deteksi</a:t>
            </a:r>
            <a:r>
              <a:rPr lang="en-ID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lokasi</a:t>
            </a:r>
            <a:r>
              <a:rPr lang="en-ID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dengan</a:t>
            </a:r>
            <a:r>
              <a:rPr lang="en-ID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metode</a:t>
            </a:r>
            <a:r>
              <a:rPr lang="en-ID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Eigenface dan GPS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AEE4B2-E974-464F-A3BD-945DDD216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480" y="365125"/>
            <a:ext cx="2652737" cy="99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93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924FB-4004-4D2F-BCE9-B1FF8ECCA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Tujuan</a:t>
            </a:r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dan </a:t>
            </a:r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Manfaat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F5DCC-6A49-433E-A1E0-E097C4CA6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Tujuan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Menerapkan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eigenface dan GPS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membuat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validasi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absensi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pengenalan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wajah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eigenface dan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mendeteksi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lokasi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saat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absen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dengan GPS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Manfaat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Manfaat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diharapkan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penelitian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skripsi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antara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lain adalah 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memaksimalkan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face recognition yang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diimplementasikan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absensi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dan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menghasilkan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prototype yang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nantinya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dikembangkan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diterapkan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langsung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Mempercepat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pencataan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kehadiran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absensi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pegawai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memudahkan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evaluasi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terhadap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kehadiran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pegawai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dimana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absensi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kehadiran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tersimpan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database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Mengurangi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terjadinya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kehilangan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absensi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pegawai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karena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rusak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hilangnya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lembar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absensi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pegawai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Mengurangi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terjadinya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kecurangan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pegawai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absensi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dengan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cara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membaca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lokasi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wajah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E42E5C-97F1-4241-87D3-53EC8B2D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480" y="365125"/>
            <a:ext cx="2652737" cy="99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735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2116A-984D-4627-94AA-786CC39E0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Ruang </a:t>
            </a:r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Lingkup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ADB7-78EF-4963-B23A-3A00E3841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mengimplementasikan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eigenface dan GPS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validasi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absensi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eigenface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umumnya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gunakan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mendeteksi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wajah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seseorang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GPS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umumnya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gunakan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mendeteksi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lokasi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terbaru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seseorang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A0AA2B-7D81-48CD-8E2B-3D77BD641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480" y="365125"/>
            <a:ext cx="2652737" cy="99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47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9BE6F6B-19BD-443C-8FB0-FA45F13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9505" cy="6857542"/>
          </a:xfrm>
          <a:custGeom>
            <a:avLst/>
            <a:gdLst>
              <a:gd name="connsiteX0" fmla="*/ 0 w 7539505"/>
              <a:gd name="connsiteY0" fmla="*/ 0 h 6857542"/>
              <a:gd name="connsiteX1" fmla="*/ 6392832 w 7539505"/>
              <a:gd name="connsiteY1" fmla="*/ 0 h 6857542"/>
              <a:gd name="connsiteX2" fmla="*/ 6405479 w 7539505"/>
              <a:gd name="connsiteY2" fmla="*/ 31774 h 6857542"/>
              <a:gd name="connsiteX3" fmla="*/ 7460487 w 7539505"/>
              <a:gd name="connsiteY3" fmla="*/ 2682457 h 6857542"/>
              <a:gd name="connsiteX4" fmla="*/ 7460487 w 7539505"/>
              <a:gd name="connsiteY4" fmla="*/ 3752208 h 6857542"/>
              <a:gd name="connsiteX5" fmla="*/ 6302983 w 7539505"/>
              <a:gd name="connsiteY5" fmla="*/ 6660411 h 6857542"/>
              <a:gd name="connsiteX6" fmla="*/ 6224521 w 7539505"/>
              <a:gd name="connsiteY6" fmla="*/ 6857542 h 6857542"/>
              <a:gd name="connsiteX7" fmla="*/ 0 w 7539505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39505" h="6857542">
                <a:moveTo>
                  <a:pt x="0" y="0"/>
                </a:moveTo>
                <a:lnTo>
                  <a:pt x="6392832" y="0"/>
                </a:lnTo>
                <a:lnTo>
                  <a:pt x="6405479" y="31774"/>
                </a:lnTo>
                <a:cubicBezTo>
                  <a:pt x="7460487" y="2682457"/>
                  <a:pt x="7460487" y="2682457"/>
                  <a:pt x="7460487" y="2682457"/>
                </a:cubicBezTo>
                <a:cubicBezTo>
                  <a:pt x="7565845" y="2988100"/>
                  <a:pt x="7565845" y="3446565"/>
                  <a:pt x="7460487" y="3752208"/>
                </a:cubicBezTo>
                <a:cubicBezTo>
                  <a:pt x="6976500" y="4968215"/>
                  <a:pt x="6598385" y="5918220"/>
                  <a:pt x="6302983" y="6660411"/>
                </a:cubicBezTo>
                <a:lnTo>
                  <a:pt x="6224521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354C4A-A2F3-4A57-86B3-CF4ADF59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70" y="2827503"/>
            <a:ext cx="5573478" cy="8966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altLang="ko-KR" sz="5400" b="1" dirty="0">
                <a:solidFill>
                  <a:schemeClr val="bg1"/>
                </a:solidFill>
              </a:rPr>
              <a:t>TINJAUAN PUSTAKA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B5F537-3960-4E10-AE03-D496B4CD5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0080" y="640080"/>
            <a:ext cx="1128382" cy="847206"/>
            <a:chOff x="5307830" y="325570"/>
            <a:chExt cx="1128382" cy="847206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4F9A94D1-9FCD-4778-A663-68663B4D3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B080F40-90BD-4CAA-9447-8DC3FCD0F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A474164-156C-4B83-B498-6ACDF73D3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8282" y="1551192"/>
            <a:ext cx="3449589" cy="12935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B0961806-1E29-4CFE-8C8F-8FEE6718F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10" b="99199" l="10000" r="90000">
                        <a14:foregroundMark x1="31167" y1="91391" x2="31167" y2="91391"/>
                        <a14:foregroundMark x1="32250" y1="95596" x2="32250" y2="95596"/>
                        <a14:foregroundMark x1="33417" y1="99199" x2="33417" y2="991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261" y="3606466"/>
            <a:ext cx="2580470" cy="214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492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AAF-FB96-4981-94C9-3F899875E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Konsep</a:t>
            </a:r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Teori</a:t>
            </a:r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dan </a:t>
            </a:r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Penerapan</a:t>
            </a:r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Landasan</a:t>
            </a:r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Penelitian</a:t>
            </a:r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4509E-6624-49E2-8BA5-AF88A4289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Pengenalan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Wajah</a:t>
            </a:r>
            <a:endParaRPr lang="en-ID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Pengenalan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wajah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adalah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aplikasi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pengenalan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wajah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menggunakan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sebuah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kamera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untuk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menangkap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wajah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seseorang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kemudian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dibandingkan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dengan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wajah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sebelumnya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telah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disimpan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di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dalam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database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tertentu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Pengenalan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wajah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melibatkan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banyak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variabel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misalnya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citra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sumber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cira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hasil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pengolahan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citra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citra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hasil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ekstraksi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 data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profil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seseorang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D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GPS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(Global Positioning System) </a:t>
            </a:r>
            <a:endParaRPr lang="en-ID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GPS (Global Positioning System) adalah system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satelit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navigasi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penentuan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posisi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dimiliki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dikelola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oleh Amerika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Serikat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Sistem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ini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didesain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untuk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memberikan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posisi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kecepatan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tiga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dimensi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serta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informasi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mengenai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waktu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secara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berkesinambungan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di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seluruh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dunia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tanpa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bergantung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waktu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cuaca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bagi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banyak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orang.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242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9BE6F6B-19BD-443C-8FB0-FA45F13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9505" cy="6857542"/>
          </a:xfrm>
          <a:custGeom>
            <a:avLst/>
            <a:gdLst>
              <a:gd name="connsiteX0" fmla="*/ 0 w 7539505"/>
              <a:gd name="connsiteY0" fmla="*/ 0 h 6857542"/>
              <a:gd name="connsiteX1" fmla="*/ 6392832 w 7539505"/>
              <a:gd name="connsiteY1" fmla="*/ 0 h 6857542"/>
              <a:gd name="connsiteX2" fmla="*/ 6405479 w 7539505"/>
              <a:gd name="connsiteY2" fmla="*/ 31774 h 6857542"/>
              <a:gd name="connsiteX3" fmla="*/ 7460487 w 7539505"/>
              <a:gd name="connsiteY3" fmla="*/ 2682457 h 6857542"/>
              <a:gd name="connsiteX4" fmla="*/ 7460487 w 7539505"/>
              <a:gd name="connsiteY4" fmla="*/ 3752208 h 6857542"/>
              <a:gd name="connsiteX5" fmla="*/ 6302983 w 7539505"/>
              <a:gd name="connsiteY5" fmla="*/ 6660411 h 6857542"/>
              <a:gd name="connsiteX6" fmla="*/ 6224521 w 7539505"/>
              <a:gd name="connsiteY6" fmla="*/ 6857542 h 6857542"/>
              <a:gd name="connsiteX7" fmla="*/ 0 w 7539505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39505" h="6857542">
                <a:moveTo>
                  <a:pt x="0" y="0"/>
                </a:moveTo>
                <a:lnTo>
                  <a:pt x="6392832" y="0"/>
                </a:lnTo>
                <a:lnTo>
                  <a:pt x="6405479" y="31774"/>
                </a:lnTo>
                <a:cubicBezTo>
                  <a:pt x="7460487" y="2682457"/>
                  <a:pt x="7460487" y="2682457"/>
                  <a:pt x="7460487" y="2682457"/>
                </a:cubicBezTo>
                <a:cubicBezTo>
                  <a:pt x="7565845" y="2988100"/>
                  <a:pt x="7565845" y="3446565"/>
                  <a:pt x="7460487" y="3752208"/>
                </a:cubicBezTo>
                <a:cubicBezTo>
                  <a:pt x="6976500" y="4968215"/>
                  <a:pt x="6598385" y="5918220"/>
                  <a:pt x="6302983" y="6660411"/>
                </a:cubicBezTo>
                <a:lnTo>
                  <a:pt x="6224521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354C4A-A2F3-4A57-86B3-CF4ADF59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183" y="2777538"/>
            <a:ext cx="5573478" cy="9362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altLang="ko-KR" sz="5400" b="1" dirty="0" err="1">
                <a:solidFill>
                  <a:schemeClr val="bg1"/>
                </a:solidFill>
              </a:rPr>
              <a:t>Metode</a:t>
            </a:r>
            <a:r>
              <a:rPr lang="en-US" altLang="ko-KR" sz="5400" b="1" dirty="0">
                <a:solidFill>
                  <a:schemeClr val="bg1"/>
                </a:solidFill>
              </a:rPr>
              <a:t> </a:t>
            </a:r>
            <a:r>
              <a:rPr lang="en-US" altLang="ko-KR" sz="5400" b="1" dirty="0" err="1">
                <a:solidFill>
                  <a:schemeClr val="bg1"/>
                </a:solidFill>
              </a:rPr>
              <a:t>Penelitian</a:t>
            </a:r>
            <a:endParaRPr lang="en-US" altLang="ko-KR" sz="5400" b="1" dirty="0">
              <a:solidFill>
                <a:schemeClr val="bg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B5F537-3960-4E10-AE03-D496B4CD5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0080" y="640080"/>
            <a:ext cx="1128382" cy="847206"/>
            <a:chOff x="5307830" y="325570"/>
            <a:chExt cx="1128382" cy="847206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4F9A94D1-9FCD-4778-A663-68663B4D3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B080F40-90BD-4CAA-9447-8DC3FCD0F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A474164-156C-4B83-B498-6ACDF73D3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8282" y="1551192"/>
            <a:ext cx="3449589" cy="12935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B0961806-1E29-4CFE-8C8F-8FEE6718F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10" b="99199" l="10000" r="90000">
                        <a14:foregroundMark x1="31167" y1="91391" x2="31167" y2="91391"/>
                        <a14:foregroundMark x1="32250" y1="95596" x2="32250" y2="95596"/>
                        <a14:foregroundMark x1="33417" y1="99199" x2="33417" y2="991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261" y="3606466"/>
            <a:ext cx="2580470" cy="214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54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5F78-73A4-4490-8A39-4671A170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Lokasi </a:t>
            </a:r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Penelitian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0DD0-17C1-4B76-8D61-EA9357696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50950"/>
          </a:xfrm>
        </p:spPr>
        <p:txBody>
          <a:bodyPr/>
          <a:lstStyle/>
          <a:p>
            <a:pPr marL="0" indent="0" algn="just">
              <a:buNone/>
            </a:pP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Pengambilan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data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dilakukan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di PT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Komitras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berlokasi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pada Ruko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Griya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Cinere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II No.10, Limo,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Kec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Cinere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Kota Depok,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Jawa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Barat 16514. Waktu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untuk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penelitian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dilakukan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pada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bulan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Maret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2022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sampai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dengan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bulan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Juli</a:t>
            </a:r>
            <a:r>
              <a:rPr lang="en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2022.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white car parked outside a building&#10;&#10;Description automatically generated with low confidence">
            <a:extLst>
              <a:ext uri="{FF2B5EF4-FFF2-40B4-BE49-F238E27FC236}">
                <a16:creationId xmlns:a16="http://schemas.microsoft.com/office/drawing/2014/main" id="{843F2107-E26D-419C-BDCE-B9A6D89DC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0" y="2762250"/>
            <a:ext cx="2686050" cy="3579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D2D7C8-F1C9-4095-803B-B6DEF3E6E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480" y="365125"/>
            <a:ext cx="2652737" cy="99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894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6B173F-5409-441D-8823-E066BD4EA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Waktu </a:t>
            </a:r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Penelitian</a:t>
            </a:r>
            <a:endParaRPr lang="en-US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46EDDC-CDB9-43C6-A40D-F258811774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0296388"/>
              </p:ext>
            </p:extLst>
          </p:nvPr>
        </p:nvGraphicFramePr>
        <p:xfrm>
          <a:off x="838200" y="2521034"/>
          <a:ext cx="10515603" cy="2968084"/>
        </p:xfrm>
        <a:graphic>
          <a:graphicData uri="http://schemas.openxmlformats.org/drawingml/2006/table">
            <a:tbl>
              <a:tblPr firstRow="1" firstCol="1" bandRow="1"/>
              <a:tblGrid>
                <a:gridCol w="1322220">
                  <a:extLst>
                    <a:ext uri="{9D8B030D-6E8A-4147-A177-3AD203B41FA5}">
                      <a16:colId xmlns:a16="http://schemas.microsoft.com/office/drawing/2014/main" val="2226204767"/>
                    </a:ext>
                  </a:extLst>
                </a:gridCol>
                <a:gridCol w="1765993">
                  <a:extLst>
                    <a:ext uri="{9D8B030D-6E8A-4147-A177-3AD203B41FA5}">
                      <a16:colId xmlns:a16="http://schemas.microsoft.com/office/drawing/2014/main" val="1064606427"/>
                    </a:ext>
                  </a:extLst>
                </a:gridCol>
                <a:gridCol w="618949">
                  <a:extLst>
                    <a:ext uri="{9D8B030D-6E8A-4147-A177-3AD203B41FA5}">
                      <a16:colId xmlns:a16="http://schemas.microsoft.com/office/drawing/2014/main" val="1413957671"/>
                    </a:ext>
                  </a:extLst>
                </a:gridCol>
                <a:gridCol w="618949">
                  <a:extLst>
                    <a:ext uri="{9D8B030D-6E8A-4147-A177-3AD203B41FA5}">
                      <a16:colId xmlns:a16="http://schemas.microsoft.com/office/drawing/2014/main" val="355424956"/>
                    </a:ext>
                  </a:extLst>
                </a:gridCol>
                <a:gridCol w="618949">
                  <a:extLst>
                    <a:ext uri="{9D8B030D-6E8A-4147-A177-3AD203B41FA5}">
                      <a16:colId xmlns:a16="http://schemas.microsoft.com/office/drawing/2014/main" val="3821949999"/>
                    </a:ext>
                  </a:extLst>
                </a:gridCol>
                <a:gridCol w="618949">
                  <a:extLst>
                    <a:ext uri="{9D8B030D-6E8A-4147-A177-3AD203B41FA5}">
                      <a16:colId xmlns:a16="http://schemas.microsoft.com/office/drawing/2014/main" val="689691137"/>
                    </a:ext>
                  </a:extLst>
                </a:gridCol>
                <a:gridCol w="618949">
                  <a:extLst>
                    <a:ext uri="{9D8B030D-6E8A-4147-A177-3AD203B41FA5}">
                      <a16:colId xmlns:a16="http://schemas.microsoft.com/office/drawing/2014/main" val="126137690"/>
                    </a:ext>
                  </a:extLst>
                </a:gridCol>
                <a:gridCol w="618949">
                  <a:extLst>
                    <a:ext uri="{9D8B030D-6E8A-4147-A177-3AD203B41FA5}">
                      <a16:colId xmlns:a16="http://schemas.microsoft.com/office/drawing/2014/main" val="1762951947"/>
                    </a:ext>
                  </a:extLst>
                </a:gridCol>
                <a:gridCol w="618949">
                  <a:extLst>
                    <a:ext uri="{9D8B030D-6E8A-4147-A177-3AD203B41FA5}">
                      <a16:colId xmlns:a16="http://schemas.microsoft.com/office/drawing/2014/main" val="730215493"/>
                    </a:ext>
                  </a:extLst>
                </a:gridCol>
                <a:gridCol w="618949">
                  <a:extLst>
                    <a:ext uri="{9D8B030D-6E8A-4147-A177-3AD203B41FA5}">
                      <a16:colId xmlns:a16="http://schemas.microsoft.com/office/drawing/2014/main" val="1856218388"/>
                    </a:ext>
                  </a:extLst>
                </a:gridCol>
                <a:gridCol w="618949">
                  <a:extLst>
                    <a:ext uri="{9D8B030D-6E8A-4147-A177-3AD203B41FA5}">
                      <a16:colId xmlns:a16="http://schemas.microsoft.com/office/drawing/2014/main" val="4185381655"/>
                    </a:ext>
                  </a:extLst>
                </a:gridCol>
                <a:gridCol w="618949">
                  <a:extLst>
                    <a:ext uri="{9D8B030D-6E8A-4147-A177-3AD203B41FA5}">
                      <a16:colId xmlns:a16="http://schemas.microsoft.com/office/drawing/2014/main" val="602090749"/>
                    </a:ext>
                  </a:extLst>
                </a:gridCol>
                <a:gridCol w="618950">
                  <a:extLst>
                    <a:ext uri="{9D8B030D-6E8A-4147-A177-3AD203B41FA5}">
                      <a16:colId xmlns:a16="http://schemas.microsoft.com/office/drawing/2014/main" val="3300794259"/>
                    </a:ext>
                  </a:extLst>
                </a:gridCol>
                <a:gridCol w="618950">
                  <a:extLst>
                    <a:ext uri="{9D8B030D-6E8A-4147-A177-3AD203B41FA5}">
                      <a16:colId xmlns:a16="http://schemas.microsoft.com/office/drawing/2014/main" val="2271357842"/>
                    </a:ext>
                  </a:extLst>
                </a:gridCol>
              </a:tblGrid>
              <a:tr h="437873">
                <a:tc rowSpan="3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516" marR="99516" marT="49758" marB="4975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Kegiatan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516" marR="99516" marT="49758" marB="4975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Bulan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516" marR="99516" marT="49758" marB="4975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801052"/>
                  </a:ext>
                </a:extLst>
              </a:tr>
              <a:tr h="4378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April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516" marR="99516" marT="49758" marB="4975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Mei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516" marR="99516" marT="49758" marB="4975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Juni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516" marR="99516" marT="49758" marB="4975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388988"/>
                  </a:ext>
                </a:extLst>
              </a:tr>
              <a:tr h="3487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Minggu ke-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850297"/>
                  </a:ext>
                </a:extLst>
              </a:tr>
              <a:tr h="348723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Studi Literatur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987004"/>
                  </a:ext>
                </a:extLst>
              </a:tr>
              <a:tr h="348723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Pengumpulan Data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610539"/>
                  </a:ext>
                </a:extLst>
              </a:tr>
              <a:tr h="348723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Perhitungan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0281"/>
                  </a:ext>
                </a:extLst>
              </a:tr>
              <a:tr h="348723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 Ke Website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611008"/>
                  </a:ext>
                </a:extLst>
              </a:tr>
              <a:tr h="348723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Pembuatan Laporan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637" marR="74637" marT="103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51894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B41B9E6-02A3-4597-9AC8-6577E7E5F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480" y="365125"/>
            <a:ext cx="2652737" cy="99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252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31FA-C086-4998-BB99-3DC66008D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Diagram Alur 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0F12E0-5404-4057-AC7E-3BA834C58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412" y="1713230"/>
            <a:ext cx="3305175" cy="4779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1A5EA7-174E-48DF-AF93-EB17279F8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480" y="365125"/>
            <a:ext cx="2652737" cy="99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319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421B-1BC4-4DF7-BC8C-A6D70FBF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Metode</a:t>
            </a:r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32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Pengambilan</a:t>
            </a:r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386F4-7316-4A13-AC67-21C0CFF42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Studi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Literatur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Mengambil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refrensi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buku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jurnal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berisi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pembahasan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teori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penelitian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bentuk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teori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pendukung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teori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khusus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dan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pengolahan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Pengumpulan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</a:p>
          <a:p>
            <a:pPr marL="0" indent="0">
              <a:buNone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Tahapan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pengumpulan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dengan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mengumpulkan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 yang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berhubungan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dengan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pengimplementasian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Pengumpulan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berupa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pegawai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Komitras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tentu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izin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perusahaan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Perhitungan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Setelah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mendapatkan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 yang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dibutuhkan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rumus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dipakai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perhitungan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sumber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buku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jurnal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dan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skripsi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berhubungan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dengan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impelemtasi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dibahas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perhitungan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rumus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Eigenface dan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perhitungan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radius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lokasi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amsen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masuk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dengan radius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lokasi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absen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keluar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3A654-3A83-4803-A4B1-A28537050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480" y="365125"/>
            <a:ext cx="2652737" cy="99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956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7667-4E0B-4FE5-8575-C5B404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SEKIAN DAN TERIMA KASIH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CFDCA-09B7-4177-9512-B4D1DD28C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C20F03B2-A86F-47F6-BCFB-69ED0382C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10" b="99199" l="10000" r="90000">
                        <a14:foregroundMark x1="31167" y1="91391" x2="31167" y2="91391"/>
                        <a14:foregroundMark x1="32250" y1="95596" x2="32250" y2="95596"/>
                        <a14:foregroundMark x1="33417" y1="99199" x2="33417" y2="991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793" y="2575277"/>
            <a:ext cx="5144413" cy="428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24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657</Words>
  <Application>Microsoft Office PowerPoint</Application>
  <PresentationFormat>Widescreen</PresentationFormat>
  <Paragraphs>140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Roboto</vt:lpstr>
      <vt:lpstr>Times New Roman</vt:lpstr>
      <vt:lpstr>Office Theme</vt:lpstr>
      <vt:lpstr>IMPLEMENTASI VALIDASI ABSENSI DENGAN PENGENALAN WAJAH DAN DETEKSI LOKASI DI PT KOMITRAS DENGAN METODE EIGENFACE DAN GPS</vt:lpstr>
      <vt:lpstr>OUTLINE</vt:lpstr>
      <vt:lpstr>LATAR BELAKANG</vt:lpstr>
      <vt:lpstr>Sistem Kehadiran</vt:lpstr>
      <vt:lpstr>Rumusan Masalah</vt:lpstr>
      <vt:lpstr>Tujuan dan Manfaat</vt:lpstr>
      <vt:lpstr>Ruang Lingkup</vt:lpstr>
      <vt:lpstr>TINJAUAN PUSTAKA</vt:lpstr>
      <vt:lpstr>Konsep Teori dan Penerapan Landasan Penelitian </vt:lpstr>
      <vt:lpstr>Metode Penelitian</vt:lpstr>
      <vt:lpstr>Lokasi Penelitian</vt:lpstr>
      <vt:lpstr>Waktu Penelitian</vt:lpstr>
      <vt:lpstr>Diagram Alur </vt:lpstr>
      <vt:lpstr>Metode Pengambilan Data</vt:lpstr>
      <vt:lpstr> SEKIAN DAN 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IMPLEMENTASI VALIDASI ABSENSI DENGAN PENGENALAN WAJAH DAN DETEKSI LOKASI DI PT KOMITRAS DENGAN METODE EIGENFACE DAN GPS</dc:title>
  <dc:creator>MUHAMMAD RAFLY SYAHPUTRA</dc:creator>
  <cp:lastModifiedBy>MUHAMMAD RAFLY SYAHPUTRA</cp:lastModifiedBy>
  <cp:revision>1</cp:revision>
  <dcterms:created xsi:type="dcterms:W3CDTF">2022-03-28T15:40:37Z</dcterms:created>
  <dcterms:modified xsi:type="dcterms:W3CDTF">2022-03-28T17:26:26Z</dcterms:modified>
</cp:coreProperties>
</file>